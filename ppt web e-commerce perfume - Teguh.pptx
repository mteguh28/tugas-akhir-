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AN Tangkiwood" charset="1" panose="00000000000000000000"/>
      <p:regular r:id="rId14"/>
    </p:embeddedFont>
    <p:embeddedFont>
      <p:font typeface="Titillium Web" charset="1" panose="00000500000000000000"/>
      <p:regular r:id="rId15"/>
    </p:embeddedFont>
    <p:embeddedFont>
      <p:font typeface="Times New Roman Semi-Bold" charset="1" panose="02030702070405020303"/>
      <p:regular r:id="rId16"/>
    </p:embeddedFont>
    <p:embeddedFont>
      <p:font typeface="Times New Roman" charset="1" panose="02030502070405020303"/>
      <p:regular r:id="rId17"/>
    </p:embeddedFont>
    <p:embeddedFont>
      <p:font typeface="Titillium Web Bold" charset="1" panose="00000800000000000000"/>
      <p:regular r:id="rId18"/>
    </p:embeddedFont>
    <p:embeddedFont>
      <p:font typeface="Times New Roman Bold" charset="1" panose="0203080207040502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0D2EF"/>
        </a:solidFill>
      </p:bgPr>
    </p:bg>
    <p:spTree>
      <p:nvGrpSpPr>
        <p:cNvPr id="1" name=""/>
        <p:cNvGrpSpPr/>
        <p:nvPr/>
      </p:nvGrpSpPr>
      <p:grpSpPr>
        <a:xfrm>
          <a:off x="0" y="0"/>
          <a:ext cx="0" cy="0"/>
          <a:chOff x="0" y="0"/>
          <a:chExt cx="0" cy="0"/>
        </a:xfrm>
      </p:grpSpPr>
      <p:grpSp>
        <p:nvGrpSpPr>
          <p:cNvPr name="Group 2" id="2"/>
          <p:cNvGrpSpPr/>
          <p:nvPr/>
        </p:nvGrpSpPr>
        <p:grpSpPr>
          <a:xfrm rot="0">
            <a:off x="7428543" y="3345139"/>
            <a:ext cx="10915398" cy="7462163"/>
            <a:chOff x="0" y="0"/>
            <a:chExt cx="14553864" cy="9949551"/>
          </a:xfrm>
        </p:grpSpPr>
        <p:sp>
          <p:nvSpPr>
            <p:cNvPr name="Freeform 3" id="3"/>
            <p:cNvSpPr/>
            <p:nvPr/>
          </p:nvSpPr>
          <p:spPr>
            <a:xfrm flipH="false" flipV="false" rot="5400000">
              <a:off x="4397026" y="-177127"/>
              <a:ext cx="7360488" cy="12112288"/>
            </a:xfrm>
            <a:custGeom>
              <a:avLst/>
              <a:gdLst/>
              <a:ahLst/>
              <a:cxnLst/>
              <a:rect r="r" b="b" t="t" l="l"/>
              <a:pathLst>
                <a:path h="12112288" w="7360488">
                  <a:moveTo>
                    <a:pt x="0" y="0"/>
                  </a:moveTo>
                  <a:lnTo>
                    <a:pt x="7360488" y="0"/>
                  </a:lnTo>
                  <a:lnTo>
                    <a:pt x="7360488" y="12112287"/>
                  </a:lnTo>
                  <a:lnTo>
                    <a:pt x="0" y="12112287"/>
                  </a:lnTo>
                  <a:lnTo>
                    <a:pt x="0" y="0"/>
                  </a:lnTo>
                  <a:close/>
                </a:path>
              </a:pathLst>
            </a:custGeom>
            <a:blipFill>
              <a:blip r:embed="rId2"/>
              <a:stretch>
                <a:fillRect l="-4921" t="0" r="-4921" b="0"/>
              </a:stretch>
            </a:blipFill>
          </p:spPr>
        </p:sp>
        <p:sp>
          <p:nvSpPr>
            <p:cNvPr name="Freeform 4" id="4"/>
            <p:cNvSpPr/>
            <p:nvPr/>
          </p:nvSpPr>
          <p:spPr>
            <a:xfrm flipH="false" flipV="false" rot="0">
              <a:off x="0" y="0"/>
              <a:ext cx="14553864" cy="9949551"/>
            </a:xfrm>
            <a:custGeom>
              <a:avLst/>
              <a:gdLst/>
              <a:ahLst/>
              <a:cxnLst/>
              <a:rect r="r" b="b" t="t" l="l"/>
              <a:pathLst>
                <a:path h="9949551" w="14553864">
                  <a:moveTo>
                    <a:pt x="0" y="0"/>
                  </a:moveTo>
                  <a:lnTo>
                    <a:pt x="14553864" y="0"/>
                  </a:lnTo>
                  <a:lnTo>
                    <a:pt x="14553864" y="9949551"/>
                  </a:lnTo>
                  <a:lnTo>
                    <a:pt x="0" y="99495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5" id="5"/>
          <p:cNvGrpSpPr/>
          <p:nvPr/>
        </p:nvGrpSpPr>
        <p:grpSpPr>
          <a:xfrm rot="0">
            <a:off x="0" y="-3270764"/>
            <a:ext cx="10915398" cy="7462163"/>
            <a:chOff x="0" y="0"/>
            <a:chExt cx="14553864" cy="9949551"/>
          </a:xfrm>
        </p:grpSpPr>
        <p:sp>
          <p:nvSpPr>
            <p:cNvPr name="Freeform 6" id="6"/>
            <p:cNvSpPr/>
            <p:nvPr/>
          </p:nvSpPr>
          <p:spPr>
            <a:xfrm flipH="false" flipV="false" rot="0">
              <a:off x="2031110" y="597570"/>
              <a:ext cx="12469308" cy="9351981"/>
            </a:xfrm>
            <a:custGeom>
              <a:avLst/>
              <a:gdLst/>
              <a:ahLst/>
              <a:cxnLst/>
              <a:rect r="r" b="b" t="t" l="l"/>
              <a:pathLst>
                <a:path h="9351981" w="12469308">
                  <a:moveTo>
                    <a:pt x="0" y="0"/>
                  </a:moveTo>
                  <a:lnTo>
                    <a:pt x="12469308" y="0"/>
                  </a:lnTo>
                  <a:lnTo>
                    <a:pt x="12469308" y="9351981"/>
                  </a:lnTo>
                  <a:lnTo>
                    <a:pt x="0" y="93519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0" y="0"/>
              <a:ext cx="14553864" cy="9949551"/>
            </a:xfrm>
            <a:custGeom>
              <a:avLst/>
              <a:gdLst/>
              <a:ahLst/>
              <a:cxnLst/>
              <a:rect r="r" b="b" t="t" l="l"/>
              <a:pathLst>
                <a:path h="9949551" w="14553864">
                  <a:moveTo>
                    <a:pt x="0" y="0"/>
                  </a:moveTo>
                  <a:lnTo>
                    <a:pt x="14553864" y="0"/>
                  </a:lnTo>
                  <a:lnTo>
                    <a:pt x="14553864" y="9949551"/>
                  </a:lnTo>
                  <a:lnTo>
                    <a:pt x="0" y="99495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8" id="8"/>
          <p:cNvGrpSpPr/>
          <p:nvPr/>
        </p:nvGrpSpPr>
        <p:grpSpPr>
          <a:xfrm rot="0">
            <a:off x="4265306" y="1028700"/>
            <a:ext cx="13300183" cy="8729756"/>
            <a:chOff x="0" y="0"/>
            <a:chExt cx="17733577" cy="11639675"/>
          </a:xfrm>
        </p:grpSpPr>
        <p:grpSp>
          <p:nvGrpSpPr>
            <p:cNvPr name="Group 9" id="9"/>
            <p:cNvGrpSpPr/>
            <p:nvPr/>
          </p:nvGrpSpPr>
          <p:grpSpPr>
            <a:xfrm rot="0">
              <a:off x="144541" y="1502815"/>
              <a:ext cx="17589036" cy="10136860"/>
              <a:chOff x="0" y="0"/>
              <a:chExt cx="2828119" cy="1629893"/>
            </a:xfrm>
          </p:grpSpPr>
          <p:sp>
            <p:nvSpPr>
              <p:cNvPr name="Freeform 10" id="10"/>
              <p:cNvSpPr/>
              <p:nvPr/>
            </p:nvSpPr>
            <p:spPr>
              <a:xfrm flipH="false" flipV="false" rot="0">
                <a:off x="0" y="0"/>
                <a:ext cx="2828119" cy="1629893"/>
              </a:xfrm>
              <a:custGeom>
                <a:avLst/>
                <a:gdLst/>
                <a:ahLst/>
                <a:cxnLst/>
                <a:rect r="r" b="b" t="t" l="l"/>
                <a:pathLst>
                  <a:path h="1629893" w="2828119">
                    <a:moveTo>
                      <a:pt x="0" y="0"/>
                    </a:moveTo>
                    <a:lnTo>
                      <a:pt x="2828119" y="0"/>
                    </a:lnTo>
                    <a:lnTo>
                      <a:pt x="2828119" y="1629893"/>
                    </a:lnTo>
                    <a:lnTo>
                      <a:pt x="0" y="1629893"/>
                    </a:lnTo>
                    <a:close/>
                  </a:path>
                </a:pathLst>
              </a:custGeom>
              <a:solidFill>
                <a:srgbClr val="F2F2F2"/>
              </a:solidFill>
            </p:spPr>
          </p:sp>
          <p:sp>
            <p:nvSpPr>
              <p:cNvPr name="TextBox 11" id="11"/>
              <p:cNvSpPr txBox="true"/>
              <p:nvPr/>
            </p:nvSpPr>
            <p:spPr>
              <a:xfrm>
                <a:off x="0" y="-28575"/>
                <a:ext cx="2828119" cy="1658468"/>
              </a:xfrm>
              <a:prstGeom prst="rect">
                <a:avLst/>
              </a:prstGeom>
            </p:spPr>
            <p:txBody>
              <a:bodyPr anchor="ctr" rtlCol="false" tIns="69762" lIns="69762" bIns="69762" rIns="69762"/>
              <a:lstStyle/>
              <a:p>
                <a:pPr algn="ctr">
                  <a:lnSpc>
                    <a:spcPts val="2579"/>
                  </a:lnSpc>
                </a:pPr>
              </a:p>
            </p:txBody>
          </p:sp>
        </p:grpSp>
        <p:sp>
          <p:nvSpPr>
            <p:cNvPr name="Freeform 12" id="12"/>
            <p:cNvSpPr/>
            <p:nvPr/>
          </p:nvSpPr>
          <p:spPr>
            <a:xfrm flipH="false" flipV="false" rot="0">
              <a:off x="0" y="0"/>
              <a:ext cx="17733577" cy="11639675"/>
            </a:xfrm>
            <a:custGeom>
              <a:avLst/>
              <a:gdLst/>
              <a:ahLst/>
              <a:cxnLst/>
              <a:rect r="r" b="b" t="t" l="l"/>
              <a:pathLst>
                <a:path h="11639675" w="17733577">
                  <a:moveTo>
                    <a:pt x="0" y="0"/>
                  </a:moveTo>
                  <a:lnTo>
                    <a:pt x="17733577" y="0"/>
                  </a:lnTo>
                  <a:lnTo>
                    <a:pt x="17733577" y="11639675"/>
                  </a:lnTo>
                  <a:lnTo>
                    <a:pt x="0" y="11639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3" id="13"/>
          <p:cNvGrpSpPr/>
          <p:nvPr/>
        </p:nvGrpSpPr>
        <p:grpSpPr>
          <a:xfrm rot="0">
            <a:off x="0" y="0"/>
            <a:ext cx="18288000" cy="551251"/>
            <a:chOff x="0" y="0"/>
            <a:chExt cx="4816593" cy="145185"/>
          </a:xfrm>
        </p:grpSpPr>
        <p:sp>
          <p:nvSpPr>
            <p:cNvPr name="Freeform 14" id="14"/>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FA643F"/>
            </a:solidFill>
            <a:ln w="19050" cap="sq">
              <a:solidFill>
                <a:srgbClr val="0D0D0D"/>
              </a:solidFill>
              <a:prstDash val="solid"/>
              <a:miter/>
            </a:ln>
          </p:spPr>
        </p:sp>
        <p:sp>
          <p:nvSpPr>
            <p:cNvPr name="TextBox 15" id="15"/>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16" id="16"/>
          <p:cNvSpPr/>
          <p:nvPr/>
        </p:nvSpPr>
        <p:spPr>
          <a:xfrm flipH="false" flipV="false" rot="0">
            <a:off x="0" y="4856487"/>
            <a:ext cx="3724511" cy="7701056"/>
          </a:xfrm>
          <a:custGeom>
            <a:avLst/>
            <a:gdLst/>
            <a:ahLst/>
            <a:cxnLst/>
            <a:rect r="r" b="b" t="t" l="l"/>
            <a:pathLst>
              <a:path h="7701056" w="3724511">
                <a:moveTo>
                  <a:pt x="0" y="0"/>
                </a:moveTo>
                <a:lnTo>
                  <a:pt x="3724511" y="0"/>
                </a:lnTo>
                <a:lnTo>
                  <a:pt x="3724511" y="7701057"/>
                </a:lnTo>
                <a:lnTo>
                  <a:pt x="0" y="77010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7" id="17"/>
          <p:cNvGrpSpPr/>
          <p:nvPr/>
        </p:nvGrpSpPr>
        <p:grpSpPr>
          <a:xfrm rot="0">
            <a:off x="7428543" y="7076221"/>
            <a:ext cx="6973710" cy="700620"/>
            <a:chOff x="0" y="0"/>
            <a:chExt cx="1836697" cy="184525"/>
          </a:xfrm>
        </p:grpSpPr>
        <p:sp>
          <p:nvSpPr>
            <p:cNvPr name="Freeform 18" id="18"/>
            <p:cNvSpPr/>
            <p:nvPr/>
          </p:nvSpPr>
          <p:spPr>
            <a:xfrm flipH="false" flipV="false" rot="0">
              <a:off x="0" y="0"/>
              <a:ext cx="1836697" cy="184525"/>
            </a:xfrm>
            <a:custGeom>
              <a:avLst/>
              <a:gdLst/>
              <a:ahLst/>
              <a:cxnLst/>
              <a:rect r="r" b="b" t="t" l="l"/>
              <a:pathLst>
                <a:path h="184525" w="1836697">
                  <a:moveTo>
                    <a:pt x="0" y="0"/>
                  </a:moveTo>
                  <a:lnTo>
                    <a:pt x="1836697" y="0"/>
                  </a:lnTo>
                  <a:lnTo>
                    <a:pt x="1836697" y="184525"/>
                  </a:lnTo>
                  <a:lnTo>
                    <a:pt x="0" y="184525"/>
                  </a:lnTo>
                  <a:close/>
                </a:path>
              </a:pathLst>
            </a:custGeom>
            <a:solidFill>
              <a:srgbClr val="FFB3D2"/>
            </a:solidFill>
            <a:ln w="19050" cap="sq">
              <a:solidFill>
                <a:srgbClr val="0D0D0D"/>
              </a:solidFill>
              <a:prstDash val="solid"/>
              <a:miter/>
            </a:ln>
          </p:spPr>
        </p:sp>
        <p:sp>
          <p:nvSpPr>
            <p:cNvPr name="TextBox 19" id="19"/>
            <p:cNvSpPr txBox="true"/>
            <p:nvPr/>
          </p:nvSpPr>
          <p:spPr>
            <a:xfrm>
              <a:off x="0" y="-47625"/>
              <a:ext cx="1836697" cy="232150"/>
            </a:xfrm>
            <a:prstGeom prst="rect">
              <a:avLst/>
            </a:prstGeom>
          </p:spPr>
          <p:txBody>
            <a:bodyPr anchor="ctr" rtlCol="false" tIns="50800" lIns="50800" bIns="50800" rIns="50800"/>
            <a:lstStyle/>
            <a:p>
              <a:pPr algn="ctr">
                <a:lnSpc>
                  <a:spcPts val="3779"/>
                </a:lnSpc>
              </a:pPr>
            </a:p>
          </p:txBody>
        </p:sp>
      </p:grpSp>
      <p:sp>
        <p:nvSpPr>
          <p:cNvPr name="Freeform 20" id="20"/>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14067047" y="7438094"/>
            <a:ext cx="601132" cy="1049596"/>
          </a:xfrm>
          <a:custGeom>
            <a:avLst/>
            <a:gdLst/>
            <a:ahLst/>
            <a:cxnLst/>
            <a:rect r="r" b="b" t="t" l="l"/>
            <a:pathLst>
              <a:path h="1049596" w="601132">
                <a:moveTo>
                  <a:pt x="0" y="0"/>
                </a:moveTo>
                <a:lnTo>
                  <a:pt x="601133" y="0"/>
                </a:lnTo>
                <a:lnTo>
                  <a:pt x="601133" y="1049596"/>
                </a:lnTo>
                <a:lnTo>
                  <a:pt x="0" y="104959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2" id="22"/>
          <p:cNvSpPr txBox="true"/>
          <p:nvPr/>
        </p:nvSpPr>
        <p:spPr>
          <a:xfrm rot="0">
            <a:off x="6639711" y="4632208"/>
            <a:ext cx="8551373" cy="2231727"/>
          </a:xfrm>
          <a:prstGeom prst="rect">
            <a:avLst/>
          </a:prstGeom>
        </p:spPr>
        <p:txBody>
          <a:bodyPr anchor="t" rtlCol="false" tIns="0" lIns="0" bIns="0" rIns="0">
            <a:spAutoFit/>
          </a:bodyPr>
          <a:lstStyle/>
          <a:p>
            <a:pPr algn="ctr">
              <a:lnSpc>
                <a:spcPts val="7929"/>
              </a:lnSpc>
            </a:pPr>
            <a:r>
              <a:rPr lang="en-US" sz="7208">
                <a:solidFill>
                  <a:srgbClr val="0D0D0D"/>
                </a:solidFill>
                <a:latin typeface="TAN Tangkiwood"/>
                <a:ea typeface="TAN Tangkiwood"/>
                <a:cs typeface="TAN Tangkiwood"/>
                <a:sym typeface="TAN Tangkiwood"/>
              </a:rPr>
              <a:t>Rancangan Website </a:t>
            </a:r>
          </a:p>
          <a:p>
            <a:pPr algn="ctr">
              <a:lnSpc>
                <a:spcPts val="7929"/>
              </a:lnSpc>
            </a:pPr>
            <a:r>
              <a:rPr lang="en-US" sz="7208">
                <a:solidFill>
                  <a:srgbClr val="0D0D0D"/>
                </a:solidFill>
                <a:latin typeface="TAN Tangkiwood"/>
                <a:ea typeface="TAN Tangkiwood"/>
                <a:cs typeface="TAN Tangkiwood"/>
                <a:sym typeface="TAN Tangkiwood"/>
              </a:rPr>
              <a:t>E-Commerce Parfume</a:t>
            </a:r>
          </a:p>
        </p:txBody>
      </p:sp>
      <p:sp>
        <p:nvSpPr>
          <p:cNvPr name="TextBox 23" id="23"/>
          <p:cNvSpPr txBox="true"/>
          <p:nvPr/>
        </p:nvSpPr>
        <p:spPr>
          <a:xfrm rot="0">
            <a:off x="7928368" y="7223146"/>
            <a:ext cx="5974060" cy="382270"/>
          </a:xfrm>
          <a:prstGeom prst="rect">
            <a:avLst/>
          </a:prstGeom>
        </p:spPr>
        <p:txBody>
          <a:bodyPr anchor="t" rtlCol="false" tIns="0" lIns="0" bIns="0" rIns="0">
            <a:spAutoFit/>
          </a:bodyPr>
          <a:lstStyle/>
          <a:p>
            <a:pPr algn="ctr">
              <a:lnSpc>
                <a:spcPts val="3079"/>
              </a:lnSpc>
            </a:pPr>
            <a:r>
              <a:rPr lang="en-US" sz="2199">
                <a:solidFill>
                  <a:srgbClr val="0D0D0D"/>
                </a:solidFill>
                <a:latin typeface="Titillium Web"/>
                <a:ea typeface="Titillium Web"/>
                <a:cs typeface="Titillium Web"/>
                <a:sym typeface="Titillium Web"/>
              </a:rPr>
              <a:t>M.TEGUH FIRMANSYAH - 230210123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B3D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190803" y="1028700"/>
            <a:ext cx="11068497" cy="8713926"/>
          </a:xfrm>
          <a:custGeom>
            <a:avLst/>
            <a:gdLst/>
            <a:ahLst/>
            <a:cxnLst/>
            <a:rect r="r" b="b" t="t" l="l"/>
            <a:pathLst>
              <a:path h="8713926" w="11068497">
                <a:moveTo>
                  <a:pt x="0" y="0"/>
                </a:moveTo>
                <a:lnTo>
                  <a:pt x="11068497" y="0"/>
                </a:lnTo>
                <a:lnTo>
                  <a:pt x="11068497" y="8713926"/>
                </a:lnTo>
                <a:lnTo>
                  <a:pt x="0" y="87139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909220" y="3410356"/>
            <a:ext cx="9631663" cy="5523010"/>
          </a:xfrm>
          <a:prstGeom prst="rect">
            <a:avLst/>
          </a:prstGeom>
        </p:spPr>
        <p:txBody>
          <a:bodyPr anchor="t" rtlCol="false" tIns="0" lIns="0" bIns="0" rIns="0">
            <a:spAutoFit/>
          </a:bodyPr>
          <a:lstStyle/>
          <a:p>
            <a:pPr algn="l">
              <a:lnSpc>
                <a:spcPts val="2707"/>
              </a:lnSpc>
            </a:pPr>
            <a:r>
              <a:rPr lang="en-US" sz="1933" b="true">
                <a:solidFill>
                  <a:srgbClr val="0D0D0D"/>
                </a:solidFill>
                <a:latin typeface="Times New Roman Semi-Bold"/>
                <a:ea typeface="Times New Roman Semi-Bold"/>
                <a:cs typeface="Times New Roman Semi-Bold"/>
                <a:sym typeface="Times New Roman Semi-Bold"/>
              </a:rPr>
              <a:t>Parfum merupakan produk yang memiliki permintaan tinggi karena berkaitan dengan gaya hidup dan kepercayaan diri individu. Namun, tidak semua konsumen memiliki akses mudah untuk mendapatkan parfum berkualitas dengan harga yang kompetitif. Selain itu, keterbatasan waktu dan lokasi menjadi faktor yang mendorong konsumen beralih ke platform online untuk memenuhi kebutuhan mereka.</a:t>
            </a:r>
          </a:p>
          <a:p>
            <a:pPr algn="l">
              <a:lnSpc>
                <a:spcPts val="2707"/>
              </a:lnSpc>
            </a:pPr>
          </a:p>
          <a:p>
            <a:pPr algn="l">
              <a:lnSpc>
                <a:spcPts val="2707"/>
              </a:lnSpc>
            </a:pPr>
            <a:r>
              <a:rPr lang="en-US" sz="1933" b="true">
                <a:solidFill>
                  <a:srgbClr val="0D0D0D"/>
                </a:solidFill>
                <a:latin typeface="Times New Roman Semi-Bold"/>
                <a:ea typeface="Times New Roman Semi-Bold"/>
                <a:cs typeface="Times New Roman Semi-Bold"/>
                <a:sym typeface="Times New Roman Semi-Bold"/>
              </a:rPr>
              <a:t>Melihat peluang tersebut, dibutuhkan sebuah platform e-commerce khusus yang mampu menjembatani antara penjual dan pembeli parfum secara efisien. Website e-commerce penjualan parfum diharapkan dapat memberikan kemudahan dalam pencarian produk, informasi lengkap mengenai aroma dan jenis parfum, sistem pembayaran yang aman, serta layanan pengiriman yang cepat.</a:t>
            </a:r>
          </a:p>
          <a:p>
            <a:pPr algn="l">
              <a:lnSpc>
                <a:spcPts val="2707"/>
              </a:lnSpc>
            </a:pPr>
          </a:p>
          <a:p>
            <a:pPr algn="l">
              <a:lnSpc>
                <a:spcPts val="2707"/>
              </a:lnSpc>
            </a:pPr>
            <a:r>
              <a:rPr lang="en-US" b="true" sz="1933" u="none">
                <a:solidFill>
                  <a:srgbClr val="0D0D0D"/>
                </a:solidFill>
                <a:latin typeface="Times New Roman Semi-Bold"/>
                <a:ea typeface="Times New Roman Semi-Bold"/>
                <a:cs typeface="Times New Roman Semi-Bold"/>
                <a:sym typeface="Times New Roman Semi-Bold"/>
              </a:rPr>
              <a:t>Dengan membangun web e-commerce penjualan parfum, pelaku usaha dapat memperluas jangkauan pasar, meningkatkan kepuasan pelanggan, serta bersaing secara lebih efektif di era digital. Website ini juga diharapkan dapat menjadi media promosi dan branding produk parfum lokal maupun internasional.</a:t>
            </a:r>
          </a:p>
        </p:txBody>
      </p:sp>
      <p:sp>
        <p:nvSpPr>
          <p:cNvPr name="TextBox 8" id="8"/>
          <p:cNvSpPr txBox="true"/>
          <p:nvPr/>
        </p:nvSpPr>
        <p:spPr>
          <a:xfrm rot="0">
            <a:off x="562848" y="3410356"/>
            <a:ext cx="5972198" cy="3380564"/>
          </a:xfrm>
          <a:prstGeom prst="rect">
            <a:avLst/>
          </a:prstGeom>
        </p:spPr>
        <p:txBody>
          <a:bodyPr anchor="t" rtlCol="false" tIns="0" lIns="0" bIns="0" rIns="0">
            <a:spAutoFit/>
          </a:bodyPr>
          <a:lstStyle/>
          <a:p>
            <a:pPr algn="l">
              <a:lnSpc>
                <a:spcPts val="11769"/>
              </a:lnSpc>
            </a:pPr>
            <a:r>
              <a:rPr lang="en-US" sz="11888">
                <a:solidFill>
                  <a:srgbClr val="0D0D0D"/>
                </a:solidFill>
                <a:latin typeface="TAN Tangkiwood"/>
                <a:ea typeface="TAN Tangkiwood"/>
                <a:cs typeface="TAN Tangkiwood"/>
                <a:sym typeface="TAN Tangkiwood"/>
              </a:rPr>
              <a:t>Latar </a:t>
            </a:r>
          </a:p>
          <a:p>
            <a:pPr algn="l">
              <a:lnSpc>
                <a:spcPts val="11769"/>
              </a:lnSpc>
            </a:pPr>
            <a:r>
              <a:rPr lang="en-US" sz="11888">
                <a:solidFill>
                  <a:srgbClr val="0D0D0D"/>
                </a:solidFill>
                <a:latin typeface="TAN Tangkiwood"/>
                <a:ea typeface="TAN Tangkiwood"/>
                <a:cs typeface="TAN Tangkiwood"/>
                <a:sym typeface="TAN Tangkiwood"/>
              </a:rPr>
              <a:t>Belakang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0D2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11590" y="2818915"/>
            <a:ext cx="7648106" cy="5228523"/>
            <a:chOff x="0" y="0"/>
            <a:chExt cx="10197474" cy="6971364"/>
          </a:xfrm>
        </p:grpSpPr>
        <p:grpSp>
          <p:nvGrpSpPr>
            <p:cNvPr name="Group 7" id="7"/>
            <p:cNvGrpSpPr/>
            <p:nvPr/>
          </p:nvGrpSpPr>
          <p:grpSpPr>
            <a:xfrm rot="0">
              <a:off x="1566346" y="1544459"/>
              <a:ext cx="8488735" cy="5129014"/>
              <a:chOff x="0" y="0"/>
              <a:chExt cx="2675414" cy="1616523"/>
            </a:xfrm>
          </p:grpSpPr>
          <p:sp>
            <p:nvSpPr>
              <p:cNvPr name="Freeform 8" id="8"/>
              <p:cNvSpPr/>
              <p:nvPr/>
            </p:nvSpPr>
            <p:spPr>
              <a:xfrm flipH="false" flipV="false" rot="0">
                <a:off x="0" y="0"/>
                <a:ext cx="2675414" cy="1616523"/>
              </a:xfrm>
              <a:custGeom>
                <a:avLst/>
                <a:gdLst/>
                <a:ahLst/>
                <a:cxnLst/>
                <a:rect r="r" b="b" t="t" l="l"/>
                <a:pathLst>
                  <a:path h="1616523" w="2675414">
                    <a:moveTo>
                      <a:pt x="0" y="0"/>
                    </a:moveTo>
                    <a:lnTo>
                      <a:pt x="2675414" y="0"/>
                    </a:lnTo>
                    <a:lnTo>
                      <a:pt x="2675414" y="1616523"/>
                    </a:lnTo>
                    <a:lnTo>
                      <a:pt x="0" y="1616523"/>
                    </a:lnTo>
                    <a:close/>
                  </a:path>
                </a:pathLst>
              </a:custGeom>
              <a:solidFill>
                <a:srgbClr val="FFB3D2"/>
              </a:solidFill>
            </p:spPr>
          </p:sp>
          <p:sp>
            <p:nvSpPr>
              <p:cNvPr name="TextBox 9" id="9"/>
              <p:cNvSpPr txBox="true"/>
              <p:nvPr/>
            </p:nvSpPr>
            <p:spPr>
              <a:xfrm>
                <a:off x="0" y="-28575"/>
                <a:ext cx="2675414" cy="1645098"/>
              </a:xfrm>
              <a:prstGeom prst="rect">
                <a:avLst/>
              </a:prstGeom>
            </p:spPr>
            <p:txBody>
              <a:bodyPr anchor="ctr" rtlCol="false" tIns="50800" lIns="50800" bIns="50800" rIns="50800"/>
              <a:lstStyle/>
              <a:p>
                <a:pPr algn="ctr">
                  <a:lnSpc>
                    <a:spcPts val="2099"/>
                  </a:lnSpc>
                </a:pPr>
              </a:p>
            </p:txBody>
          </p:sp>
        </p:grpSp>
        <p:sp>
          <p:nvSpPr>
            <p:cNvPr name="Freeform 10" id="10"/>
            <p:cNvSpPr/>
            <p:nvPr/>
          </p:nvSpPr>
          <p:spPr>
            <a:xfrm flipH="false" flipV="false" rot="0">
              <a:off x="0" y="0"/>
              <a:ext cx="10197474" cy="6971364"/>
            </a:xfrm>
            <a:custGeom>
              <a:avLst/>
              <a:gdLst/>
              <a:ahLst/>
              <a:cxnLst/>
              <a:rect r="r" b="b" t="t" l="l"/>
              <a:pathLst>
                <a:path h="6971364" w="10197474">
                  <a:moveTo>
                    <a:pt x="0" y="0"/>
                  </a:moveTo>
                  <a:lnTo>
                    <a:pt x="10197474" y="0"/>
                  </a:lnTo>
                  <a:lnTo>
                    <a:pt x="10197474" y="6971364"/>
                  </a:lnTo>
                  <a:lnTo>
                    <a:pt x="0" y="697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1" id="11"/>
          <p:cNvGrpSpPr/>
          <p:nvPr/>
        </p:nvGrpSpPr>
        <p:grpSpPr>
          <a:xfrm rot="0">
            <a:off x="1028700" y="911915"/>
            <a:ext cx="4997487" cy="1302734"/>
            <a:chOff x="0" y="0"/>
            <a:chExt cx="1316211" cy="343107"/>
          </a:xfrm>
        </p:grpSpPr>
        <p:sp>
          <p:nvSpPr>
            <p:cNvPr name="Freeform 12" id="12"/>
            <p:cNvSpPr/>
            <p:nvPr/>
          </p:nvSpPr>
          <p:spPr>
            <a:xfrm flipH="false" flipV="false" rot="0">
              <a:off x="0" y="0"/>
              <a:ext cx="1316211" cy="343107"/>
            </a:xfrm>
            <a:custGeom>
              <a:avLst/>
              <a:gdLst/>
              <a:ahLst/>
              <a:cxnLst/>
              <a:rect r="r" b="b" t="t" l="l"/>
              <a:pathLst>
                <a:path h="343107" w="1316211">
                  <a:moveTo>
                    <a:pt x="0" y="0"/>
                  </a:moveTo>
                  <a:lnTo>
                    <a:pt x="1316211" y="0"/>
                  </a:lnTo>
                  <a:lnTo>
                    <a:pt x="1316211" y="343107"/>
                  </a:lnTo>
                  <a:lnTo>
                    <a:pt x="0" y="343107"/>
                  </a:lnTo>
                  <a:close/>
                </a:path>
              </a:pathLst>
            </a:custGeom>
            <a:solidFill>
              <a:srgbClr val="604ABD"/>
            </a:solidFill>
            <a:ln w="19050" cap="sq">
              <a:solidFill>
                <a:srgbClr val="0D0D0D"/>
              </a:solidFill>
              <a:prstDash val="solid"/>
              <a:miter/>
            </a:ln>
          </p:spPr>
        </p:sp>
        <p:sp>
          <p:nvSpPr>
            <p:cNvPr name="TextBox 13" id="13"/>
            <p:cNvSpPr txBox="true"/>
            <p:nvPr/>
          </p:nvSpPr>
          <p:spPr>
            <a:xfrm>
              <a:off x="0" y="-38100"/>
              <a:ext cx="1316211" cy="381207"/>
            </a:xfrm>
            <a:prstGeom prst="rect">
              <a:avLst/>
            </a:prstGeom>
          </p:spPr>
          <p:txBody>
            <a:bodyPr anchor="ctr" rtlCol="false" tIns="50800" lIns="50800" bIns="50800" rIns="50800"/>
            <a:lstStyle/>
            <a:p>
              <a:pPr algn="ctr">
                <a:lnSpc>
                  <a:spcPts val="2100"/>
                </a:lnSpc>
              </a:pPr>
            </a:p>
          </p:txBody>
        </p:sp>
      </p:grpSp>
      <p:sp>
        <p:nvSpPr>
          <p:cNvPr name="Freeform 14" id="14"/>
          <p:cNvSpPr/>
          <p:nvPr/>
        </p:nvSpPr>
        <p:spPr>
          <a:xfrm flipH="false" flipV="false" rot="0">
            <a:off x="10065645" y="6483662"/>
            <a:ext cx="601132" cy="1049596"/>
          </a:xfrm>
          <a:custGeom>
            <a:avLst/>
            <a:gdLst/>
            <a:ahLst/>
            <a:cxnLst/>
            <a:rect r="r" b="b" t="t" l="l"/>
            <a:pathLst>
              <a:path h="1049596" w="601132">
                <a:moveTo>
                  <a:pt x="0" y="0"/>
                </a:moveTo>
                <a:lnTo>
                  <a:pt x="601132" y="0"/>
                </a:lnTo>
                <a:lnTo>
                  <a:pt x="601132" y="1049596"/>
                </a:lnTo>
                <a:lnTo>
                  <a:pt x="0" y="1049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302058" y="315507"/>
            <a:ext cx="6450770" cy="2162175"/>
          </a:xfrm>
          <a:prstGeom prst="rect">
            <a:avLst/>
          </a:prstGeom>
        </p:spPr>
        <p:txBody>
          <a:bodyPr anchor="t" rtlCol="false" tIns="0" lIns="0" bIns="0" rIns="0">
            <a:spAutoFit/>
          </a:bodyPr>
          <a:lstStyle/>
          <a:p>
            <a:pPr algn="ctr" marL="0" indent="0" lvl="0">
              <a:lnSpc>
                <a:spcPts val="14400"/>
              </a:lnSpc>
              <a:spcBef>
                <a:spcPct val="0"/>
              </a:spcBef>
            </a:pPr>
            <a:r>
              <a:rPr lang="en-US" sz="12000">
                <a:solidFill>
                  <a:srgbClr val="0D0D0D"/>
                </a:solidFill>
                <a:latin typeface="TAN Tangkiwood"/>
                <a:ea typeface="TAN Tangkiwood"/>
                <a:cs typeface="TAN Tangkiwood"/>
                <a:sym typeface="TAN Tangkiwood"/>
              </a:rPr>
              <a:t>Tujuan</a:t>
            </a:r>
          </a:p>
        </p:txBody>
      </p:sp>
      <p:grpSp>
        <p:nvGrpSpPr>
          <p:cNvPr name="Group 16" id="16"/>
          <p:cNvGrpSpPr/>
          <p:nvPr/>
        </p:nvGrpSpPr>
        <p:grpSpPr>
          <a:xfrm rot="0">
            <a:off x="8078387" y="5507749"/>
            <a:ext cx="7719307" cy="5277199"/>
            <a:chOff x="0" y="0"/>
            <a:chExt cx="10292410" cy="7036266"/>
          </a:xfrm>
        </p:grpSpPr>
        <p:grpSp>
          <p:nvGrpSpPr>
            <p:cNvPr name="Group 17" id="17"/>
            <p:cNvGrpSpPr/>
            <p:nvPr/>
          </p:nvGrpSpPr>
          <p:grpSpPr>
            <a:xfrm rot="0">
              <a:off x="1580928" y="1558838"/>
              <a:ext cx="8567763" cy="5176763"/>
              <a:chOff x="0" y="0"/>
              <a:chExt cx="2675414" cy="1616523"/>
            </a:xfrm>
          </p:grpSpPr>
          <p:sp>
            <p:nvSpPr>
              <p:cNvPr name="Freeform 18" id="18"/>
              <p:cNvSpPr/>
              <p:nvPr/>
            </p:nvSpPr>
            <p:spPr>
              <a:xfrm flipH="false" flipV="false" rot="0">
                <a:off x="0" y="0"/>
                <a:ext cx="2675414" cy="1616523"/>
              </a:xfrm>
              <a:custGeom>
                <a:avLst/>
                <a:gdLst/>
                <a:ahLst/>
                <a:cxnLst/>
                <a:rect r="r" b="b" t="t" l="l"/>
                <a:pathLst>
                  <a:path h="1616523" w="2675414">
                    <a:moveTo>
                      <a:pt x="0" y="0"/>
                    </a:moveTo>
                    <a:lnTo>
                      <a:pt x="2675414" y="0"/>
                    </a:lnTo>
                    <a:lnTo>
                      <a:pt x="2675414" y="1616523"/>
                    </a:lnTo>
                    <a:lnTo>
                      <a:pt x="0" y="1616523"/>
                    </a:lnTo>
                    <a:close/>
                  </a:path>
                </a:pathLst>
              </a:custGeom>
              <a:solidFill>
                <a:srgbClr val="FFB3D2"/>
              </a:solidFill>
            </p:spPr>
          </p:sp>
          <p:sp>
            <p:nvSpPr>
              <p:cNvPr name="TextBox 19" id="19"/>
              <p:cNvSpPr txBox="true"/>
              <p:nvPr/>
            </p:nvSpPr>
            <p:spPr>
              <a:xfrm>
                <a:off x="0" y="-38100"/>
                <a:ext cx="2675414" cy="1654623"/>
              </a:xfrm>
              <a:prstGeom prst="rect">
                <a:avLst/>
              </a:prstGeom>
            </p:spPr>
            <p:txBody>
              <a:bodyPr anchor="ctr" rtlCol="false" tIns="50800" lIns="50800" bIns="50800" rIns="50800"/>
              <a:lstStyle/>
              <a:p>
                <a:pPr algn="ctr">
                  <a:lnSpc>
                    <a:spcPts val="2100"/>
                  </a:lnSpc>
                </a:pPr>
              </a:p>
            </p:txBody>
          </p:sp>
        </p:grpSp>
        <p:sp>
          <p:nvSpPr>
            <p:cNvPr name="Freeform 20" id="20"/>
            <p:cNvSpPr/>
            <p:nvPr/>
          </p:nvSpPr>
          <p:spPr>
            <a:xfrm flipH="false" flipV="false" rot="0">
              <a:off x="0" y="0"/>
              <a:ext cx="10292410" cy="7036266"/>
            </a:xfrm>
            <a:custGeom>
              <a:avLst/>
              <a:gdLst/>
              <a:ahLst/>
              <a:cxnLst/>
              <a:rect r="r" b="b" t="t" l="l"/>
              <a:pathLst>
                <a:path h="7036266" w="10292410">
                  <a:moveTo>
                    <a:pt x="0" y="0"/>
                  </a:moveTo>
                  <a:lnTo>
                    <a:pt x="10292410" y="0"/>
                  </a:lnTo>
                  <a:lnTo>
                    <a:pt x="10292410" y="7036266"/>
                  </a:lnTo>
                  <a:lnTo>
                    <a:pt x="0" y="70362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0">
            <a:off x="9339350" y="911915"/>
            <a:ext cx="7648106" cy="5228523"/>
            <a:chOff x="0" y="0"/>
            <a:chExt cx="10197474" cy="6971364"/>
          </a:xfrm>
        </p:grpSpPr>
        <p:grpSp>
          <p:nvGrpSpPr>
            <p:cNvPr name="Group 22" id="22"/>
            <p:cNvGrpSpPr/>
            <p:nvPr/>
          </p:nvGrpSpPr>
          <p:grpSpPr>
            <a:xfrm rot="0">
              <a:off x="1566346" y="1544459"/>
              <a:ext cx="8488735" cy="5129014"/>
              <a:chOff x="0" y="0"/>
              <a:chExt cx="2675414" cy="1616523"/>
            </a:xfrm>
          </p:grpSpPr>
          <p:sp>
            <p:nvSpPr>
              <p:cNvPr name="Freeform 23" id="23"/>
              <p:cNvSpPr/>
              <p:nvPr/>
            </p:nvSpPr>
            <p:spPr>
              <a:xfrm flipH="false" flipV="false" rot="0">
                <a:off x="0" y="0"/>
                <a:ext cx="2675414" cy="1616523"/>
              </a:xfrm>
              <a:custGeom>
                <a:avLst/>
                <a:gdLst/>
                <a:ahLst/>
                <a:cxnLst/>
                <a:rect r="r" b="b" t="t" l="l"/>
                <a:pathLst>
                  <a:path h="1616523" w="2675414">
                    <a:moveTo>
                      <a:pt x="0" y="0"/>
                    </a:moveTo>
                    <a:lnTo>
                      <a:pt x="2675414" y="0"/>
                    </a:lnTo>
                    <a:lnTo>
                      <a:pt x="2675414" y="1616523"/>
                    </a:lnTo>
                    <a:lnTo>
                      <a:pt x="0" y="1616523"/>
                    </a:lnTo>
                    <a:close/>
                  </a:path>
                </a:pathLst>
              </a:custGeom>
              <a:solidFill>
                <a:srgbClr val="FFB3D2"/>
              </a:solidFill>
            </p:spPr>
          </p:sp>
          <p:sp>
            <p:nvSpPr>
              <p:cNvPr name="TextBox 24" id="24"/>
              <p:cNvSpPr txBox="true"/>
              <p:nvPr/>
            </p:nvSpPr>
            <p:spPr>
              <a:xfrm>
                <a:off x="0" y="-28575"/>
                <a:ext cx="2675414" cy="1645098"/>
              </a:xfrm>
              <a:prstGeom prst="rect">
                <a:avLst/>
              </a:prstGeom>
            </p:spPr>
            <p:txBody>
              <a:bodyPr anchor="ctr" rtlCol="false" tIns="50800" lIns="50800" bIns="50800" rIns="50800"/>
              <a:lstStyle/>
              <a:p>
                <a:pPr algn="ctr">
                  <a:lnSpc>
                    <a:spcPts val="2099"/>
                  </a:lnSpc>
                </a:pPr>
              </a:p>
            </p:txBody>
          </p:sp>
        </p:grpSp>
        <p:sp>
          <p:nvSpPr>
            <p:cNvPr name="Freeform 25" id="25"/>
            <p:cNvSpPr/>
            <p:nvPr/>
          </p:nvSpPr>
          <p:spPr>
            <a:xfrm flipH="false" flipV="false" rot="0">
              <a:off x="0" y="0"/>
              <a:ext cx="10197474" cy="6971364"/>
            </a:xfrm>
            <a:custGeom>
              <a:avLst/>
              <a:gdLst/>
              <a:ahLst/>
              <a:cxnLst/>
              <a:rect r="r" b="b" t="t" l="l"/>
              <a:pathLst>
                <a:path h="6971364" w="10197474">
                  <a:moveTo>
                    <a:pt x="0" y="0"/>
                  </a:moveTo>
                  <a:lnTo>
                    <a:pt x="10197474" y="0"/>
                  </a:lnTo>
                  <a:lnTo>
                    <a:pt x="10197474" y="6971364"/>
                  </a:lnTo>
                  <a:lnTo>
                    <a:pt x="0" y="697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1260331" y="4467215"/>
            <a:ext cx="6818056" cy="2263544"/>
          </a:xfrm>
          <a:prstGeom prst="rect">
            <a:avLst/>
          </a:prstGeom>
        </p:spPr>
        <p:txBody>
          <a:bodyPr anchor="t" rtlCol="false" tIns="0" lIns="0" bIns="0" rIns="0">
            <a:spAutoFit/>
          </a:bodyPr>
          <a:lstStyle/>
          <a:p>
            <a:pPr algn="ctr">
              <a:lnSpc>
                <a:spcPts val="3580"/>
              </a:lnSpc>
            </a:pPr>
            <a:r>
              <a:rPr lang="en-US" sz="2557">
                <a:solidFill>
                  <a:srgbClr val="0D0D0D"/>
                </a:solidFill>
                <a:latin typeface="Times New Roman"/>
                <a:ea typeface="Times New Roman"/>
                <a:cs typeface="Times New Roman"/>
                <a:sym typeface="Times New Roman"/>
              </a:rPr>
              <a:t>     </a:t>
            </a:r>
            <a:r>
              <a:rPr lang="en-US" sz="2557">
                <a:solidFill>
                  <a:srgbClr val="0D0D0D"/>
                </a:solidFill>
                <a:latin typeface="Times New Roman"/>
                <a:ea typeface="Times New Roman"/>
                <a:cs typeface="Times New Roman"/>
                <a:sym typeface="Times New Roman"/>
              </a:rPr>
              <a:t>Menyediakan Platform Penjualan yang Mudah Digunakan</a:t>
            </a:r>
          </a:p>
          <a:p>
            <a:pPr algn="ctr" marL="552218" indent="-276109" lvl="1">
              <a:lnSpc>
                <a:spcPts val="3580"/>
              </a:lnSpc>
              <a:buFont typeface="Arial"/>
              <a:buChar char="•"/>
            </a:pPr>
            <a:r>
              <a:rPr lang="en-US" sz="2557">
                <a:solidFill>
                  <a:srgbClr val="0D0D0D"/>
                </a:solidFill>
                <a:latin typeface="Times New Roman"/>
                <a:ea typeface="Times New Roman"/>
                <a:cs typeface="Times New Roman"/>
                <a:sym typeface="Times New Roman"/>
              </a:rPr>
              <a:t>Navigasi intuitif</a:t>
            </a:r>
          </a:p>
          <a:p>
            <a:pPr algn="ctr" marL="552218" indent="-276109" lvl="1">
              <a:lnSpc>
                <a:spcPts val="3580"/>
              </a:lnSpc>
              <a:buFont typeface="Arial"/>
              <a:buChar char="•"/>
            </a:pPr>
            <a:r>
              <a:rPr lang="en-US" sz="2557">
                <a:solidFill>
                  <a:srgbClr val="0D0D0D"/>
                </a:solidFill>
                <a:latin typeface="Times New Roman"/>
                <a:ea typeface="Times New Roman"/>
                <a:cs typeface="Times New Roman"/>
                <a:sym typeface="Times New Roman"/>
              </a:rPr>
              <a:t>Proses checkout yang cepat dan efisien</a:t>
            </a:r>
          </a:p>
          <a:p>
            <a:pPr algn="ctr" marL="552218" indent="-276109" lvl="1">
              <a:lnSpc>
                <a:spcPts val="3580"/>
              </a:lnSpc>
              <a:buFont typeface="Arial"/>
              <a:buChar char="•"/>
            </a:pPr>
            <a:r>
              <a:rPr lang="en-US" sz="2557">
                <a:solidFill>
                  <a:srgbClr val="0D0D0D"/>
                </a:solidFill>
                <a:latin typeface="Times New Roman"/>
                <a:ea typeface="Times New Roman"/>
                <a:cs typeface="Times New Roman"/>
                <a:sym typeface="Times New Roman"/>
              </a:rPr>
              <a:t>Mobile-friendly untuk semua perangkat</a:t>
            </a:r>
          </a:p>
        </p:txBody>
      </p:sp>
      <p:sp>
        <p:nvSpPr>
          <p:cNvPr name="TextBox 27" id="27"/>
          <p:cNvSpPr txBox="true"/>
          <p:nvPr/>
        </p:nvSpPr>
        <p:spPr>
          <a:xfrm rot="0">
            <a:off x="9534700" y="2723665"/>
            <a:ext cx="7257406" cy="2193803"/>
          </a:xfrm>
          <a:prstGeom prst="rect">
            <a:avLst/>
          </a:prstGeom>
        </p:spPr>
        <p:txBody>
          <a:bodyPr anchor="t" rtlCol="false" tIns="0" lIns="0" bIns="0" rIns="0">
            <a:spAutoFit/>
          </a:bodyPr>
          <a:lstStyle/>
          <a:p>
            <a:pPr algn="ctr">
              <a:lnSpc>
                <a:spcPts val="3539"/>
              </a:lnSpc>
            </a:pPr>
            <a:r>
              <a:rPr lang="en-US" sz="2527">
                <a:solidFill>
                  <a:srgbClr val="0D0D0D"/>
                </a:solidFill>
                <a:latin typeface="Times New Roman"/>
                <a:ea typeface="Times New Roman"/>
                <a:cs typeface="Times New Roman"/>
                <a:sym typeface="Times New Roman"/>
              </a:rPr>
              <a:t>Memberikan Pengalaman Belanja yang Elegan dan Menyenangkan</a:t>
            </a:r>
          </a:p>
          <a:p>
            <a:pPr algn="ctr" marL="526089" indent="-263045" lvl="1">
              <a:lnSpc>
                <a:spcPts val="3411"/>
              </a:lnSpc>
              <a:buFont typeface="Arial"/>
              <a:buChar char="•"/>
            </a:pPr>
            <a:r>
              <a:rPr lang="en-US" sz="2436">
                <a:solidFill>
                  <a:srgbClr val="0D0D0D"/>
                </a:solidFill>
                <a:latin typeface="Times New Roman"/>
                <a:ea typeface="Times New Roman"/>
                <a:cs typeface="Times New Roman"/>
                <a:sym typeface="Times New Roman"/>
              </a:rPr>
              <a:t>Desain visual mewah dan minimalis</a:t>
            </a:r>
          </a:p>
          <a:p>
            <a:pPr algn="ctr" marL="526089" indent="-263045" lvl="1">
              <a:lnSpc>
                <a:spcPts val="3411"/>
              </a:lnSpc>
              <a:buFont typeface="Arial"/>
              <a:buChar char="•"/>
            </a:pPr>
            <a:r>
              <a:rPr lang="en-US" sz="2436">
                <a:solidFill>
                  <a:srgbClr val="0D0D0D"/>
                </a:solidFill>
                <a:latin typeface="Times New Roman"/>
                <a:ea typeface="Times New Roman"/>
                <a:cs typeface="Times New Roman"/>
                <a:sym typeface="Times New Roman"/>
              </a:rPr>
              <a:t>Interaksi user yang smooth dan responsif</a:t>
            </a:r>
          </a:p>
          <a:p>
            <a:pPr algn="ctr" marL="526089" indent="-263045" lvl="1">
              <a:lnSpc>
                <a:spcPts val="3411"/>
              </a:lnSpc>
              <a:buFont typeface="Arial"/>
              <a:buChar char="•"/>
            </a:pPr>
            <a:r>
              <a:rPr lang="en-US" sz="2436">
                <a:solidFill>
                  <a:srgbClr val="0D0D0D"/>
                </a:solidFill>
                <a:latin typeface="Times New Roman"/>
                <a:ea typeface="Times New Roman"/>
                <a:cs typeface="Times New Roman"/>
                <a:sym typeface="Times New Roman"/>
              </a:rPr>
              <a:t>Fitur pencarian aroma sesuai preferensi</a:t>
            </a:r>
          </a:p>
        </p:txBody>
      </p:sp>
      <p:sp>
        <p:nvSpPr>
          <p:cNvPr name="TextBox 28" id="28"/>
          <p:cNvSpPr txBox="true"/>
          <p:nvPr/>
        </p:nvSpPr>
        <p:spPr>
          <a:xfrm rot="0">
            <a:off x="8428420" y="6916654"/>
            <a:ext cx="7019241" cy="2354615"/>
          </a:xfrm>
          <a:prstGeom prst="rect">
            <a:avLst/>
          </a:prstGeom>
        </p:spPr>
        <p:txBody>
          <a:bodyPr anchor="t" rtlCol="false" tIns="0" lIns="0" bIns="0" rIns="0">
            <a:spAutoFit/>
          </a:bodyPr>
          <a:lstStyle/>
          <a:p>
            <a:pPr algn="ctr">
              <a:lnSpc>
                <a:spcPts val="3699"/>
              </a:lnSpc>
            </a:pPr>
            <a:r>
              <a:rPr lang="en-US" sz="2642">
                <a:solidFill>
                  <a:srgbClr val="0D0D0D"/>
                </a:solidFill>
                <a:latin typeface="Times New Roman"/>
                <a:ea typeface="Times New Roman"/>
                <a:cs typeface="Times New Roman"/>
                <a:sym typeface="Times New Roman"/>
              </a:rPr>
              <a:t>Meningkatkan Konversi dan Loyalitas Pelanggan</a:t>
            </a:r>
          </a:p>
          <a:p>
            <a:pPr algn="ctr" marL="570569" indent="-285285" lvl="1">
              <a:lnSpc>
                <a:spcPts val="3699"/>
              </a:lnSpc>
              <a:buFont typeface="Arial"/>
              <a:buChar char="•"/>
            </a:pPr>
            <a:r>
              <a:rPr lang="en-US" sz="2642">
                <a:solidFill>
                  <a:srgbClr val="0D0D0D"/>
                </a:solidFill>
                <a:latin typeface="Times New Roman"/>
                <a:ea typeface="Times New Roman"/>
                <a:cs typeface="Times New Roman"/>
                <a:sym typeface="Times New Roman"/>
              </a:rPr>
              <a:t>Sistem akun &amp; wishlist</a:t>
            </a:r>
          </a:p>
          <a:p>
            <a:pPr algn="ctr" marL="570569" indent="-285285" lvl="1">
              <a:lnSpc>
                <a:spcPts val="3699"/>
              </a:lnSpc>
              <a:buFont typeface="Arial"/>
              <a:buChar char="•"/>
            </a:pPr>
            <a:r>
              <a:rPr lang="en-US" sz="2642">
                <a:solidFill>
                  <a:srgbClr val="0D0D0D"/>
                </a:solidFill>
                <a:latin typeface="Times New Roman"/>
                <a:ea typeface="Times New Roman"/>
                <a:cs typeface="Times New Roman"/>
                <a:sym typeface="Times New Roman"/>
              </a:rPr>
              <a:t>Program reward atau poin</a:t>
            </a:r>
          </a:p>
          <a:p>
            <a:pPr algn="ctr" marL="570569" indent="-285285" lvl="1">
              <a:lnSpc>
                <a:spcPts val="3699"/>
              </a:lnSpc>
              <a:buFont typeface="Arial"/>
              <a:buChar char="•"/>
            </a:pPr>
            <a:r>
              <a:rPr lang="en-US" sz="2642">
                <a:solidFill>
                  <a:srgbClr val="0D0D0D"/>
                </a:solidFill>
                <a:latin typeface="Times New Roman"/>
                <a:ea typeface="Times New Roman"/>
                <a:cs typeface="Times New Roman"/>
                <a:sym typeface="Times New Roman"/>
              </a:rPr>
              <a:t>Rekomendasi produk personalisasi</a:t>
            </a:r>
          </a:p>
          <a:p>
            <a:pPr algn="ctr" marL="570569" indent="-285285" lvl="1">
              <a:lnSpc>
                <a:spcPts val="3699"/>
              </a:lnSpc>
              <a:buFont typeface="Arial"/>
              <a:buChar char="•"/>
            </a:pPr>
            <a:r>
              <a:rPr lang="en-US" sz="2642">
                <a:solidFill>
                  <a:srgbClr val="0D0D0D"/>
                </a:solidFill>
                <a:latin typeface="Times New Roman"/>
                <a:ea typeface="Times New Roman"/>
                <a:cs typeface="Times New Roman"/>
                <a:sym typeface="Times New Roman"/>
              </a:rPr>
              <a:t>Review &amp; testimoni pelanggan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2532633" y="4711796"/>
            <a:ext cx="3737388" cy="860867"/>
            <a:chOff x="0" y="0"/>
            <a:chExt cx="984333" cy="226730"/>
          </a:xfrm>
        </p:grpSpPr>
        <p:sp>
          <p:nvSpPr>
            <p:cNvPr name="Freeform 3" id="3"/>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FB3D2"/>
            </a:solidFill>
            <a:ln w="19050" cap="sq">
              <a:solidFill>
                <a:srgbClr val="0D0D0D"/>
              </a:solidFill>
              <a:prstDash val="solid"/>
              <a:miter/>
            </a:ln>
          </p:spPr>
        </p:sp>
        <p:sp>
          <p:nvSpPr>
            <p:cNvPr name="TextBox 4" id="4"/>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1. Home</a:t>
              </a:r>
            </a:p>
          </p:txBody>
        </p:sp>
      </p:grpSp>
      <p:grpSp>
        <p:nvGrpSpPr>
          <p:cNvPr name="Group 5" id="5"/>
          <p:cNvGrpSpPr/>
          <p:nvPr/>
        </p:nvGrpSpPr>
        <p:grpSpPr>
          <a:xfrm rot="0">
            <a:off x="-214850" y="-228600"/>
            <a:ext cx="18717700" cy="3937262"/>
            <a:chOff x="0" y="0"/>
            <a:chExt cx="4929765" cy="1036974"/>
          </a:xfrm>
        </p:grpSpPr>
        <p:sp>
          <p:nvSpPr>
            <p:cNvPr name="Freeform 6" id="6"/>
            <p:cNvSpPr/>
            <p:nvPr/>
          </p:nvSpPr>
          <p:spPr>
            <a:xfrm flipH="false" flipV="false" rot="0">
              <a:off x="0" y="0"/>
              <a:ext cx="4929765" cy="1036974"/>
            </a:xfrm>
            <a:custGeom>
              <a:avLst/>
              <a:gdLst/>
              <a:ahLst/>
              <a:cxnLst/>
              <a:rect r="r" b="b" t="t" l="l"/>
              <a:pathLst>
                <a:path h="1036974" w="4929765">
                  <a:moveTo>
                    <a:pt x="0" y="0"/>
                  </a:moveTo>
                  <a:lnTo>
                    <a:pt x="4929765" y="0"/>
                  </a:lnTo>
                  <a:lnTo>
                    <a:pt x="4929765" y="1036974"/>
                  </a:lnTo>
                  <a:lnTo>
                    <a:pt x="0" y="1036974"/>
                  </a:lnTo>
                  <a:close/>
                </a:path>
              </a:pathLst>
            </a:custGeom>
            <a:solidFill>
              <a:srgbClr val="E0D2EF"/>
            </a:solidFill>
            <a:ln w="19050" cap="sq">
              <a:solidFill>
                <a:srgbClr val="0D0D0D"/>
              </a:solidFill>
              <a:prstDash val="solid"/>
              <a:miter/>
            </a:ln>
          </p:spPr>
        </p:sp>
        <p:sp>
          <p:nvSpPr>
            <p:cNvPr name="TextBox 7" id="7"/>
            <p:cNvSpPr txBox="true"/>
            <p:nvPr/>
          </p:nvSpPr>
          <p:spPr>
            <a:xfrm>
              <a:off x="0" y="-38100"/>
              <a:ext cx="4929765" cy="1075074"/>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904943" y="1416146"/>
            <a:ext cx="16354357" cy="923925"/>
          </a:xfrm>
          <a:prstGeom prst="rect">
            <a:avLst/>
          </a:prstGeom>
        </p:spPr>
        <p:txBody>
          <a:bodyPr anchor="t" rtlCol="false" tIns="0" lIns="0" bIns="0" rIns="0">
            <a:spAutoFit/>
          </a:bodyPr>
          <a:lstStyle/>
          <a:p>
            <a:pPr algn="ctr" marL="0" indent="0" lvl="0">
              <a:lnSpc>
                <a:spcPts val="7200"/>
              </a:lnSpc>
              <a:spcBef>
                <a:spcPct val="0"/>
              </a:spcBef>
            </a:pPr>
            <a:r>
              <a:rPr lang="en-US" b="true" sz="6000">
                <a:solidFill>
                  <a:srgbClr val="0D0D0D"/>
                </a:solidFill>
                <a:latin typeface="Titillium Web Bold"/>
                <a:ea typeface="Titillium Web Bold"/>
                <a:cs typeface="Titillium Web Bold"/>
                <a:sym typeface="Titillium Web Bold"/>
              </a:rPr>
              <a:t>Struktur Navigasi Website</a:t>
            </a:r>
          </a:p>
        </p:txBody>
      </p:sp>
      <p:grpSp>
        <p:nvGrpSpPr>
          <p:cNvPr name="Group 9" id="9"/>
          <p:cNvGrpSpPr/>
          <p:nvPr/>
        </p:nvGrpSpPr>
        <p:grpSpPr>
          <a:xfrm rot="0">
            <a:off x="7442391" y="6326489"/>
            <a:ext cx="3737388" cy="860867"/>
            <a:chOff x="0" y="0"/>
            <a:chExt cx="984333" cy="226730"/>
          </a:xfrm>
        </p:grpSpPr>
        <p:sp>
          <p:nvSpPr>
            <p:cNvPr name="Freeform 10" id="10"/>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FB3D2"/>
            </a:solidFill>
            <a:ln w="19050" cap="sq">
              <a:solidFill>
                <a:srgbClr val="0D0D0D"/>
              </a:solidFill>
              <a:prstDash val="solid"/>
              <a:miter/>
            </a:ln>
          </p:spPr>
        </p:sp>
        <p:sp>
          <p:nvSpPr>
            <p:cNvPr name="TextBox 11" id="11"/>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5. Akun pengguna</a:t>
              </a:r>
            </a:p>
          </p:txBody>
        </p:sp>
      </p:grpSp>
      <p:grpSp>
        <p:nvGrpSpPr>
          <p:cNvPr name="Group 12" id="12"/>
          <p:cNvGrpSpPr/>
          <p:nvPr/>
        </p:nvGrpSpPr>
        <p:grpSpPr>
          <a:xfrm rot="0">
            <a:off x="2532633" y="6326489"/>
            <a:ext cx="3737388" cy="860867"/>
            <a:chOff x="0" y="0"/>
            <a:chExt cx="984333" cy="226730"/>
          </a:xfrm>
        </p:grpSpPr>
        <p:sp>
          <p:nvSpPr>
            <p:cNvPr name="Freeform 13" id="13"/>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2F2F2"/>
            </a:solidFill>
            <a:ln w="19050" cap="sq">
              <a:solidFill>
                <a:srgbClr val="0D0D0D"/>
              </a:solidFill>
              <a:prstDash val="solid"/>
              <a:miter/>
            </a:ln>
          </p:spPr>
        </p:sp>
        <p:sp>
          <p:nvSpPr>
            <p:cNvPr name="TextBox 14" id="14"/>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2.Katalog Produk</a:t>
              </a:r>
            </a:p>
          </p:txBody>
        </p:sp>
      </p:grpSp>
      <p:grpSp>
        <p:nvGrpSpPr>
          <p:cNvPr name="Group 15" id="15"/>
          <p:cNvGrpSpPr/>
          <p:nvPr/>
        </p:nvGrpSpPr>
        <p:grpSpPr>
          <a:xfrm rot="0">
            <a:off x="12551459" y="6326489"/>
            <a:ext cx="3737388" cy="860867"/>
            <a:chOff x="0" y="0"/>
            <a:chExt cx="984333" cy="226730"/>
          </a:xfrm>
        </p:grpSpPr>
        <p:sp>
          <p:nvSpPr>
            <p:cNvPr name="Freeform 16" id="16"/>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E0D2EF"/>
            </a:solidFill>
            <a:ln w="19050" cap="sq">
              <a:solidFill>
                <a:srgbClr val="0D0D0D"/>
              </a:solidFill>
              <a:prstDash val="solid"/>
              <a:miter/>
            </a:ln>
          </p:spPr>
        </p:sp>
        <p:sp>
          <p:nvSpPr>
            <p:cNvPr name="TextBox 17" id="17"/>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7. Kontak</a:t>
              </a:r>
            </a:p>
          </p:txBody>
        </p:sp>
      </p:grpSp>
      <p:grpSp>
        <p:nvGrpSpPr>
          <p:cNvPr name="Group 18" id="18"/>
          <p:cNvGrpSpPr/>
          <p:nvPr/>
        </p:nvGrpSpPr>
        <p:grpSpPr>
          <a:xfrm rot="0">
            <a:off x="7408532" y="7941181"/>
            <a:ext cx="3737388" cy="860867"/>
            <a:chOff x="0" y="0"/>
            <a:chExt cx="984333" cy="226730"/>
          </a:xfrm>
        </p:grpSpPr>
        <p:sp>
          <p:nvSpPr>
            <p:cNvPr name="Freeform 19" id="19"/>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2F2F2"/>
            </a:solidFill>
            <a:ln w="19050" cap="sq">
              <a:solidFill>
                <a:srgbClr val="0D0D0D"/>
              </a:solidFill>
              <a:prstDash val="solid"/>
              <a:miter/>
            </a:ln>
          </p:spPr>
        </p:sp>
        <p:sp>
          <p:nvSpPr>
            <p:cNvPr name="TextBox 20" id="20"/>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6.  Tentang Kami</a:t>
              </a:r>
            </a:p>
          </p:txBody>
        </p:sp>
      </p:grpSp>
      <p:grpSp>
        <p:nvGrpSpPr>
          <p:cNvPr name="Group 21" id="21"/>
          <p:cNvGrpSpPr/>
          <p:nvPr/>
        </p:nvGrpSpPr>
        <p:grpSpPr>
          <a:xfrm rot="0">
            <a:off x="2532633" y="7941181"/>
            <a:ext cx="3737388" cy="860867"/>
            <a:chOff x="0" y="0"/>
            <a:chExt cx="984333" cy="226730"/>
          </a:xfrm>
        </p:grpSpPr>
        <p:sp>
          <p:nvSpPr>
            <p:cNvPr name="Freeform 22" id="22"/>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FB3D2"/>
            </a:solidFill>
            <a:ln w="19050" cap="sq">
              <a:solidFill>
                <a:srgbClr val="0D0D0D"/>
              </a:solidFill>
              <a:prstDash val="solid"/>
              <a:miter/>
            </a:ln>
          </p:spPr>
        </p:sp>
        <p:sp>
          <p:nvSpPr>
            <p:cNvPr name="TextBox 23" id="23"/>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3. Detail Produk</a:t>
              </a:r>
            </a:p>
          </p:txBody>
        </p:sp>
      </p:grpSp>
      <p:grpSp>
        <p:nvGrpSpPr>
          <p:cNvPr name="Group 24" id="24"/>
          <p:cNvGrpSpPr/>
          <p:nvPr/>
        </p:nvGrpSpPr>
        <p:grpSpPr>
          <a:xfrm rot="0">
            <a:off x="7408532" y="4711796"/>
            <a:ext cx="3737388" cy="860867"/>
            <a:chOff x="0" y="0"/>
            <a:chExt cx="984333" cy="226730"/>
          </a:xfrm>
        </p:grpSpPr>
        <p:sp>
          <p:nvSpPr>
            <p:cNvPr name="Freeform 25" id="25"/>
            <p:cNvSpPr/>
            <p:nvPr/>
          </p:nvSpPr>
          <p:spPr>
            <a:xfrm flipH="false" flipV="false" rot="0">
              <a:off x="0" y="0"/>
              <a:ext cx="984333" cy="226730"/>
            </a:xfrm>
            <a:custGeom>
              <a:avLst/>
              <a:gdLst/>
              <a:ahLst/>
              <a:cxnLst/>
              <a:rect r="r" b="b" t="t" l="l"/>
              <a:pathLst>
                <a:path h="226730" w="984333">
                  <a:moveTo>
                    <a:pt x="0" y="0"/>
                  </a:moveTo>
                  <a:lnTo>
                    <a:pt x="984333" y="0"/>
                  </a:lnTo>
                  <a:lnTo>
                    <a:pt x="984333" y="226730"/>
                  </a:lnTo>
                  <a:lnTo>
                    <a:pt x="0" y="226730"/>
                  </a:lnTo>
                  <a:close/>
                </a:path>
              </a:pathLst>
            </a:custGeom>
            <a:solidFill>
              <a:srgbClr val="F2F2F2"/>
            </a:solidFill>
            <a:ln w="19050" cap="sq">
              <a:solidFill>
                <a:srgbClr val="0D0D0D"/>
              </a:solidFill>
              <a:prstDash val="solid"/>
              <a:miter/>
            </a:ln>
          </p:spPr>
        </p:sp>
        <p:sp>
          <p:nvSpPr>
            <p:cNvPr name="TextBox 26" id="26"/>
            <p:cNvSpPr txBox="true"/>
            <p:nvPr/>
          </p:nvSpPr>
          <p:spPr>
            <a:xfrm>
              <a:off x="0" y="-47625"/>
              <a:ext cx="984333" cy="274355"/>
            </a:xfrm>
            <a:prstGeom prst="rect">
              <a:avLst/>
            </a:prstGeom>
          </p:spPr>
          <p:txBody>
            <a:bodyPr anchor="ctr" rtlCol="false" tIns="50800" lIns="50800" bIns="50800" rIns="50800"/>
            <a:lstStyle/>
            <a:p>
              <a:pPr algn="ctr">
                <a:lnSpc>
                  <a:spcPts val="3219"/>
                </a:lnSpc>
              </a:pPr>
              <a:r>
                <a:rPr lang="en-US" b="true" sz="2299">
                  <a:solidFill>
                    <a:srgbClr val="0D0D0D"/>
                  </a:solidFill>
                  <a:latin typeface="Titillium Web Bold"/>
                  <a:ea typeface="Titillium Web Bold"/>
                  <a:cs typeface="Titillium Web Bold"/>
                  <a:sym typeface="Titillium Web Bold"/>
                </a:rPr>
                <a:t>4. Keranjang dan checkout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0" y="39185"/>
            <a:ext cx="5943733" cy="10247815"/>
          </a:xfrm>
          <a:custGeom>
            <a:avLst/>
            <a:gdLst/>
            <a:ahLst/>
            <a:cxnLst/>
            <a:rect r="r" b="b" t="t" l="l"/>
            <a:pathLst>
              <a:path h="10247815" w="5943733">
                <a:moveTo>
                  <a:pt x="0" y="0"/>
                </a:moveTo>
                <a:lnTo>
                  <a:pt x="5943733" y="0"/>
                </a:lnTo>
                <a:lnTo>
                  <a:pt x="5943733" y="10247815"/>
                </a:lnTo>
                <a:lnTo>
                  <a:pt x="0" y="102478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65192" y="678669"/>
            <a:ext cx="5388214" cy="9308048"/>
            <a:chOff x="0" y="0"/>
            <a:chExt cx="1419118" cy="2451502"/>
          </a:xfrm>
        </p:grpSpPr>
        <p:sp>
          <p:nvSpPr>
            <p:cNvPr name="Freeform 4" id="4"/>
            <p:cNvSpPr/>
            <p:nvPr/>
          </p:nvSpPr>
          <p:spPr>
            <a:xfrm flipH="false" flipV="false" rot="0">
              <a:off x="0" y="0"/>
              <a:ext cx="1419118" cy="2451502"/>
            </a:xfrm>
            <a:custGeom>
              <a:avLst/>
              <a:gdLst/>
              <a:ahLst/>
              <a:cxnLst/>
              <a:rect r="r" b="b" t="t" l="l"/>
              <a:pathLst>
                <a:path h="2451502" w="1419118">
                  <a:moveTo>
                    <a:pt x="0" y="0"/>
                  </a:moveTo>
                  <a:lnTo>
                    <a:pt x="1419118" y="0"/>
                  </a:lnTo>
                  <a:lnTo>
                    <a:pt x="1419118" y="2451502"/>
                  </a:lnTo>
                  <a:lnTo>
                    <a:pt x="0" y="2451502"/>
                  </a:lnTo>
                  <a:close/>
                </a:path>
              </a:pathLst>
            </a:custGeom>
            <a:solidFill>
              <a:srgbClr val="E0D2EF"/>
            </a:solidFill>
          </p:spPr>
        </p:sp>
        <p:sp>
          <p:nvSpPr>
            <p:cNvPr name="TextBox 5" id="5"/>
            <p:cNvSpPr txBox="true"/>
            <p:nvPr/>
          </p:nvSpPr>
          <p:spPr>
            <a:xfrm>
              <a:off x="0" y="-38100"/>
              <a:ext cx="1419118" cy="2489602"/>
            </a:xfrm>
            <a:prstGeom prst="rect">
              <a:avLst/>
            </a:prstGeom>
          </p:spPr>
          <p:txBody>
            <a:bodyPr anchor="ctr" rtlCol="false" tIns="50800" lIns="50800" bIns="50800" rIns="50800"/>
            <a:lstStyle/>
            <a:p>
              <a:pPr algn="ctr">
                <a:lnSpc>
                  <a:spcPts val="2100"/>
                </a:lnSpc>
              </a:pPr>
            </a:p>
          </p:txBody>
        </p:sp>
      </p:grpSp>
      <p:sp>
        <p:nvSpPr>
          <p:cNvPr name="Freeform 6" id="6"/>
          <p:cNvSpPr/>
          <p:nvPr/>
        </p:nvSpPr>
        <p:spPr>
          <a:xfrm flipH="false" flipV="false" rot="0">
            <a:off x="8742726" y="0"/>
            <a:ext cx="5557283" cy="10197073"/>
          </a:xfrm>
          <a:custGeom>
            <a:avLst/>
            <a:gdLst/>
            <a:ahLst/>
            <a:cxnLst/>
            <a:rect r="r" b="b" t="t" l="l"/>
            <a:pathLst>
              <a:path h="10197073" w="5557283">
                <a:moveTo>
                  <a:pt x="0" y="0"/>
                </a:moveTo>
                <a:lnTo>
                  <a:pt x="5557283" y="0"/>
                </a:lnTo>
                <a:lnTo>
                  <a:pt x="5557283" y="10197073"/>
                </a:lnTo>
                <a:lnTo>
                  <a:pt x="0" y="10197073"/>
                </a:lnTo>
                <a:lnTo>
                  <a:pt x="0" y="0"/>
                </a:lnTo>
                <a:close/>
              </a:path>
            </a:pathLst>
          </a:custGeom>
          <a:blipFill>
            <a:blip r:embed="rId4"/>
            <a:stretch>
              <a:fillRect l="-86250" t="-12651" r="-118856" b="-12058"/>
            </a:stretch>
          </a:blipFill>
        </p:spPr>
      </p:sp>
      <p:sp>
        <p:nvSpPr>
          <p:cNvPr name="TextBox 7" id="7"/>
          <p:cNvSpPr txBox="true"/>
          <p:nvPr/>
        </p:nvSpPr>
        <p:spPr>
          <a:xfrm rot="0">
            <a:off x="1619027" y="4788497"/>
            <a:ext cx="2256234" cy="878842"/>
          </a:xfrm>
          <a:prstGeom prst="rect">
            <a:avLst/>
          </a:prstGeom>
        </p:spPr>
        <p:txBody>
          <a:bodyPr anchor="t" rtlCol="false" tIns="0" lIns="0" bIns="0" rIns="0">
            <a:spAutoFit/>
          </a:bodyPr>
          <a:lstStyle/>
          <a:p>
            <a:pPr algn="ctr">
              <a:lnSpc>
                <a:spcPts val="6159"/>
              </a:lnSpc>
              <a:spcBef>
                <a:spcPct val="0"/>
              </a:spcBef>
            </a:pPr>
            <a:r>
              <a:rPr lang="en-US" sz="4399">
                <a:solidFill>
                  <a:srgbClr val="000000"/>
                </a:solidFill>
                <a:latin typeface="TAN Tangkiwood"/>
                <a:ea typeface="TAN Tangkiwood"/>
                <a:cs typeface="TAN Tangkiwood"/>
                <a:sym typeface="TAN Tangkiwood"/>
              </a:rPr>
              <a:t>ALUR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0" y="39185"/>
            <a:ext cx="5943733" cy="10247815"/>
          </a:xfrm>
          <a:custGeom>
            <a:avLst/>
            <a:gdLst/>
            <a:ahLst/>
            <a:cxnLst/>
            <a:rect r="r" b="b" t="t" l="l"/>
            <a:pathLst>
              <a:path h="10247815" w="5943733">
                <a:moveTo>
                  <a:pt x="0" y="0"/>
                </a:moveTo>
                <a:lnTo>
                  <a:pt x="5943733" y="0"/>
                </a:lnTo>
                <a:lnTo>
                  <a:pt x="5943733" y="10247815"/>
                </a:lnTo>
                <a:lnTo>
                  <a:pt x="0" y="102478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65192" y="678669"/>
            <a:ext cx="5388214" cy="9308048"/>
            <a:chOff x="0" y="0"/>
            <a:chExt cx="1419118" cy="2451502"/>
          </a:xfrm>
        </p:grpSpPr>
        <p:sp>
          <p:nvSpPr>
            <p:cNvPr name="Freeform 4" id="4"/>
            <p:cNvSpPr/>
            <p:nvPr/>
          </p:nvSpPr>
          <p:spPr>
            <a:xfrm flipH="false" flipV="false" rot="0">
              <a:off x="0" y="0"/>
              <a:ext cx="1419118" cy="2451502"/>
            </a:xfrm>
            <a:custGeom>
              <a:avLst/>
              <a:gdLst/>
              <a:ahLst/>
              <a:cxnLst/>
              <a:rect r="r" b="b" t="t" l="l"/>
              <a:pathLst>
                <a:path h="2451502" w="1419118">
                  <a:moveTo>
                    <a:pt x="0" y="0"/>
                  </a:moveTo>
                  <a:lnTo>
                    <a:pt x="1419118" y="0"/>
                  </a:lnTo>
                  <a:lnTo>
                    <a:pt x="1419118" y="2451502"/>
                  </a:lnTo>
                  <a:lnTo>
                    <a:pt x="0" y="2451502"/>
                  </a:lnTo>
                  <a:close/>
                </a:path>
              </a:pathLst>
            </a:custGeom>
            <a:solidFill>
              <a:srgbClr val="E0D2EF"/>
            </a:solidFill>
          </p:spPr>
        </p:sp>
        <p:sp>
          <p:nvSpPr>
            <p:cNvPr name="TextBox 5" id="5"/>
            <p:cNvSpPr txBox="true"/>
            <p:nvPr/>
          </p:nvSpPr>
          <p:spPr>
            <a:xfrm>
              <a:off x="0" y="-38100"/>
              <a:ext cx="1419118" cy="2489602"/>
            </a:xfrm>
            <a:prstGeom prst="rect">
              <a:avLst/>
            </a:prstGeom>
          </p:spPr>
          <p:txBody>
            <a:bodyPr anchor="ctr" rtlCol="false" tIns="50800" lIns="50800" bIns="50800" rIns="50800"/>
            <a:lstStyle/>
            <a:p>
              <a:pPr algn="ctr">
                <a:lnSpc>
                  <a:spcPts val="2100"/>
                </a:lnSpc>
              </a:pPr>
            </a:p>
          </p:txBody>
        </p:sp>
      </p:grpSp>
      <p:sp>
        <p:nvSpPr>
          <p:cNvPr name="Freeform 6" id="6"/>
          <p:cNvSpPr/>
          <p:nvPr/>
        </p:nvSpPr>
        <p:spPr>
          <a:xfrm flipH="false" flipV="false" rot="0">
            <a:off x="6551203" y="1321553"/>
            <a:ext cx="10421652" cy="6826182"/>
          </a:xfrm>
          <a:custGeom>
            <a:avLst/>
            <a:gdLst/>
            <a:ahLst/>
            <a:cxnLst/>
            <a:rect r="r" b="b" t="t" l="l"/>
            <a:pathLst>
              <a:path h="6826182" w="10421652">
                <a:moveTo>
                  <a:pt x="0" y="0"/>
                </a:moveTo>
                <a:lnTo>
                  <a:pt x="10421652" y="0"/>
                </a:lnTo>
                <a:lnTo>
                  <a:pt x="10421652" y="6826182"/>
                </a:lnTo>
                <a:lnTo>
                  <a:pt x="0" y="6826182"/>
                </a:lnTo>
                <a:lnTo>
                  <a:pt x="0" y="0"/>
                </a:lnTo>
                <a:close/>
              </a:path>
            </a:pathLst>
          </a:custGeom>
          <a:blipFill>
            <a:blip r:embed="rId4"/>
            <a:stretch>
              <a:fillRect l="0" t="0" r="0" b="0"/>
            </a:stretch>
          </a:blipFill>
        </p:spPr>
      </p:sp>
      <p:sp>
        <p:nvSpPr>
          <p:cNvPr name="TextBox 7" id="7"/>
          <p:cNvSpPr txBox="true"/>
          <p:nvPr/>
        </p:nvSpPr>
        <p:spPr>
          <a:xfrm rot="0">
            <a:off x="1440333" y="4798737"/>
            <a:ext cx="2457450" cy="604886"/>
          </a:xfrm>
          <a:prstGeom prst="rect">
            <a:avLst/>
          </a:prstGeom>
        </p:spPr>
        <p:txBody>
          <a:bodyPr anchor="t" rtlCol="false" tIns="0" lIns="0" bIns="0" rIns="0">
            <a:spAutoFit/>
          </a:bodyPr>
          <a:lstStyle/>
          <a:p>
            <a:pPr algn="ctr">
              <a:lnSpc>
                <a:spcPts val="4459"/>
              </a:lnSpc>
              <a:spcBef>
                <a:spcPct val="0"/>
              </a:spcBef>
            </a:pPr>
            <a:r>
              <a:rPr lang="en-US" b="true" sz="3185">
                <a:solidFill>
                  <a:srgbClr val="000000"/>
                </a:solidFill>
                <a:latin typeface="Times New Roman Bold"/>
                <a:ea typeface="Times New Roman Bold"/>
                <a:cs typeface="Times New Roman Bold"/>
                <a:sym typeface="Times New Roman Bold"/>
              </a:rPr>
              <a:t>USE CHASE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406431" y="4600500"/>
            <a:ext cx="4701082" cy="5686500"/>
            <a:chOff x="0" y="0"/>
            <a:chExt cx="6268109" cy="7582000"/>
          </a:xfrm>
        </p:grpSpPr>
        <p:grpSp>
          <p:nvGrpSpPr>
            <p:cNvPr name="Group 7" id="7"/>
            <p:cNvGrpSpPr/>
            <p:nvPr/>
          </p:nvGrpSpPr>
          <p:grpSpPr>
            <a:xfrm rot="0">
              <a:off x="0" y="549487"/>
              <a:ext cx="6268109" cy="7032513"/>
              <a:chOff x="0" y="0"/>
              <a:chExt cx="1238145" cy="1389138"/>
            </a:xfrm>
          </p:grpSpPr>
          <p:sp>
            <p:nvSpPr>
              <p:cNvPr name="Freeform 8" id="8"/>
              <p:cNvSpPr/>
              <p:nvPr/>
            </p:nvSpPr>
            <p:spPr>
              <a:xfrm flipH="false" flipV="false" rot="0">
                <a:off x="0" y="0"/>
                <a:ext cx="1238145" cy="1389138"/>
              </a:xfrm>
              <a:custGeom>
                <a:avLst/>
                <a:gdLst/>
                <a:ahLst/>
                <a:cxnLst/>
                <a:rect r="r" b="b" t="t" l="l"/>
                <a:pathLst>
                  <a:path h="1389138" w="1238145">
                    <a:moveTo>
                      <a:pt x="0" y="0"/>
                    </a:moveTo>
                    <a:lnTo>
                      <a:pt x="1238145" y="0"/>
                    </a:lnTo>
                    <a:lnTo>
                      <a:pt x="1238145" y="1389138"/>
                    </a:lnTo>
                    <a:lnTo>
                      <a:pt x="0" y="1389138"/>
                    </a:lnTo>
                    <a:close/>
                  </a:path>
                </a:pathLst>
              </a:custGeom>
              <a:solidFill>
                <a:srgbClr val="E0D2EF"/>
              </a:solidFill>
            </p:spPr>
          </p:sp>
          <p:sp>
            <p:nvSpPr>
              <p:cNvPr name="TextBox 9" id="9"/>
              <p:cNvSpPr txBox="true"/>
              <p:nvPr/>
            </p:nvSpPr>
            <p:spPr>
              <a:xfrm>
                <a:off x="0" y="-38100"/>
                <a:ext cx="1238145" cy="1427238"/>
              </a:xfrm>
              <a:prstGeom prst="rect">
                <a:avLst/>
              </a:prstGeom>
            </p:spPr>
            <p:txBody>
              <a:bodyPr anchor="ctr" rtlCol="false" tIns="50800" lIns="50800" bIns="50800" rIns="50800"/>
              <a:lstStyle/>
              <a:p>
                <a:pPr algn="ctr">
                  <a:lnSpc>
                    <a:spcPts val="2100"/>
                  </a:lnSpc>
                </a:pPr>
              </a:p>
            </p:txBody>
          </p:sp>
        </p:grpSp>
        <p:sp>
          <p:nvSpPr>
            <p:cNvPr name="Freeform 10" id="10"/>
            <p:cNvSpPr/>
            <p:nvPr/>
          </p:nvSpPr>
          <p:spPr>
            <a:xfrm flipH="false" flipV="false" rot="0">
              <a:off x="0" y="0"/>
              <a:ext cx="6268109" cy="7108165"/>
            </a:xfrm>
            <a:custGeom>
              <a:avLst/>
              <a:gdLst/>
              <a:ahLst/>
              <a:cxnLst/>
              <a:rect r="r" b="b" t="t" l="l"/>
              <a:pathLst>
                <a:path h="7108165" w="6268109">
                  <a:moveTo>
                    <a:pt x="0" y="0"/>
                  </a:moveTo>
                  <a:lnTo>
                    <a:pt x="6268109" y="0"/>
                  </a:lnTo>
                  <a:lnTo>
                    <a:pt x="6268109" y="7108165"/>
                  </a:lnTo>
                  <a:lnTo>
                    <a:pt x="0" y="71081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1" id="11"/>
          <p:cNvSpPr/>
          <p:nvPr/>
        </p:nvSpPr>
        <p:spPr>
          <a:xfrm flipH="false" flipV="false" rot="0">
            <a:off x="5107513" y="1429851"/>
            <a:ext cx="13453605" cy="7000650"/>
          </a:xfrm>
          <a:custGeom>
            <a:avLst/>
            <a:gdLst/>
            <a:ahLst/>
            <a:cxnLst/>
            <a:rect r="r" b="b" t="t" l="l"/>
            <a:pathLst>
              <a:path h="7000650" w="13453605">
                <a:moveTo>
                  <a:pt x="0" y="0"/>
                </a:moveTo>
                <a:lnTo>
                  <a:pt x="13453605" y="0"/>
                </a:lnTo>
                <a:lnTo>
                  <a:pt x="13453605" y="7000650"/>
                </a:lnTo>
                <a:lnTo>
                  <a:pt x="0" y="7000650"/>
                </a:lnTo>
                <a:lnTo>
                  <a:pt x="0" y="0"/>
                </a:lnTo>
                <a:close/>
              </a:path>
            </a:pathLst>
          </a:custGeom>
          <a:blipFill>
            <a:blip r:embed="rId6"/>
            <a:stretch>
              <a:fillRect l="0" t="0" r="0" b="0"/>
            </a:stretch>
          </a:blipFill>
        </p:spPr>
      </p:sp>
      <p:sp>
        <p:nvSpPr>
          <p:cNvPr name="TextBox 12" id="12"/>
          <p:cNvSpPr txBox="true"/>
          <p:nvPr/>
        </p:nvSpPr>
        <p:spPr>
          <a:xfrm rot="0">
            <a:off x="406431" y="2531163"/>
            <a:ext cx="4701082" cy="755650"/>
          </a:xfrm>
          <a:prstGeom prst="rect">
            <a:avLst/>
          </a:prstGeom>
        </p:spPr>
        <p:txBody>
          <a:bodyPr anchor="t" rtlCol="false" tIns="0" lIns="0" bIns="0" rIns="0">
            <a:spAutoFit/>
          </a:bodyPr>
          <a:lstStyle/>
          <a:p>
            <a:pPr algn="ctr" marL="0" indent="0" lvl="0">
              <a:lnSpc>
                <a:spcPts val="5599"/>
              </a:lnSpc>
            </a:pPr>
            <a:r>
              <a:rPr lang="en-US" b="true" sz="3999">
                <a:solidFill>
                  <a:srgbClr val="0D0D0D"/>
                </a:solidFill>
                <a:latin typeface="Times New Roman Bold"/>
                <a:ea typeface="Times New Roman Bold"/>
                <a:cs typeface="Times New Roman Bold"/>
                <a:sym typeface="Times New Roman Bold"/>
              </a:rPr>
              <a:t>Progress web </a:t>
            </a:r>
          </a:p>
        </p:txBody>
      </p:sp>
      <p:sp>
        <p:nvSpPr>
          <p:cNvPr name="TextBox 13" id="13"/>
          <p:cNvSpPr txBox="true"/>
          <p:nvPr/>
        </p:nvSpPr>
        <p:spPr>
          <a:xfrm rot="0">
            <a:off x="2551604" y="7217102"/>
            <a:ext cx="15712" cy="415195"/>
          </a:xfrm>
          <a:prstGeom prst="rect">
            <a:avLst/>
          </a:prstGeom>
        </p:spPr>
        <p:txBody>
          <a:bodyPr anchor="t" rtlCol="false" tIns="0" lIns="0" bIns="0" rIns="0">
            <a:spAutoFit/>
          </a:bodyPr>
          <a:lstStyle/>
          <a:p>
            <a:pPr algn="ctr">
              <a:lnSpc>
                <a:spcPts val="3464"/>
              </a:lnSpc>
              <a:spcBef>
                <a:spcPct val="0"/>
              </a:spcBef>
            </a:pPr>
          </a:p>
        </p:txBody>
      </p:sp>
      <p:sp>
        <p:nvSpPr>
          <p:cNvPr name="TextBox 14" id="14"/>
          <p:cNvSpPr txBox="true"/>
          <p:nvPr/>
        </p:nvSpPr>
        <p:spPr>
          <a:xfrm rot="0">
            <a:off x="562848" y="6037559"/>
            <a:ext cx="4347467" cy="2692031"/>
          </a:xfrm>
          <a:prstGeom prst="rect">
            <a:avLst/>
          </a:prstGeom>
        </p:spPr>
        <p:txBody>
          <a:bodyPr anchor="t" rtlCol="false" tIns="0" lIns="0" bIns="0" rIns="0">
            <a:spAutoFit/>
          </a:bodyPr>
          <a:lstStyle/>
          <a:p>
            <a:pPr algn="ctr">
              <a:lnSpc>
                <a:spcPts val="2630"/>
              </a:lnSpc>
              <a:spcBef>
                <a:spcPct val="0"/>
              </a:spcBef>
            </a:pPr>
            <a:r>
              <a:rPr lang="en-US" sz="1878">
                <a:solidFill>
                  <a:srgbClr val="0D0D0D"/>
                </a:solidFill>
                <a:latin typeface="Times New Roman"/>
                <a:ea typeface="Times New Roman"/>
                <a:cs typeface="Times New Roman"/>
                <a:sym typeface="Times New Roman"/>
              </a:rPr>
              <a:t>Website e-commerce parfum saat ini sedang dalam tahap desain UI/UX. Wireframe untuk homepage, katalog, dan detail produk telah dibuat. Struktur navigasi dan fitur utama sudah dirancang. Pengembangan teknis (front-end dan back-end) akan dimulai setelah desain final disetujui.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51251"/>
            <a:chOff x="0" y="0"/>
            <a:chExt cx="4816593" cy="145185"/>
          </a:xfrm>
        </p:grpSpPr>
        <p:sp>
          <p:nvSpPr>
            <p:cNvPr name="Freeform 3" id="3"/>
            <p:cNvSpPr/>
            <p:nvPr/>
          </p:nvSpPr>
          <p:spPr>
            <a:xfrm flipH="false" flipV="false" rot="0">
              <a:off x="0" y="0"/>
              <a:ext cx="4816592" cy="145185"/>
            </a:xfrm>
            <a:custGeom>
              <a:avLst/>
              <a:gdLst/>
              <a:ahLst/>
              <a:cxnLst/>
              <a:rect r="r" b="b" t="t" l="l"/>
              <a:pathLst>
                <a:path h="145185" w="4816592">
                  <a:moveTo>
                    <a:pt x="0" y="0"/>
                  </a:moveTo>
                  <a:lnTo>
                    <a:pt x="4816592" y="0"/>
                  </a:lnTo>
                  <a:lnTo>
                    <a:pt x="4816592" y="145185"/>
                  </a:lnTo>
                  <a:lnTo>
                    <a:pt x="0" y="145185"/>
                  </a:lnTo>
                  <a:close/>
                </a:path>
              </a:pathLst>
            </a:custGeom>
            <a:solidFill>
              <a:srgbClr val="604ABD"/>
            </a:solidFill>
            <a:ln w="19050" cap="sq">
              <a:solidFill>
                <a:srgbClr val="0D0D0D"/>
              </a:solidFill>
              <a:prstDash val="solid"/>
              <a:miter/>
            </a:ln>
          </p:spPr>
        </p:sp>
        <p:sp>
          <p:nvSpPr>
            <p:cNvPr name="TextBox 4" id="4"/>
            <p:cNvSpPr txBox="true"/>
            <p:nvPr/>
          </p:nvSpPr>
          <p:spPr>
            <a:xfrm>
              <a:off x="0" y="-38100"/>
              <a:ext cx="4816593" cy="183285"/>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562848" y="188440"/>
            <a:ext cx="697483" cy="174371"/>
          </a:xfrm>
          <a:custGeom>
            <a:avLst/>
            <a:gdLst/>
            <a:ahLst/>
            <a:cxnLst/>
            <a:rect r="r" b="b" t="t" l="l"/>
            <a:pathLst>
              <a:path h="174371" w="697483">
                <a:moveTo>
                  <a:pt x="0" y="0"/>
                </a:moveTo>
                <a:lnTo>
                  <a:pt x="697483" y="0"/>
                </a:lnTo>
                <a:lnTo>
                  <a:pt x="697483" y="174371"/>
                </a:lnTo>
                <a:lnTo>
                  <a:pt x="0" y="1743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3568847" y="3167042"/>
            <a:ext cx="11150307" cy="4663183"/>
            <a:chOff x="0" y="0"/>
            <a:chExt cx="14867076" cy="6217578"/>
          </a:xfrm>
        </p:grpSpPr>
        <p:grpSp>
          <p:nvGrpSpPr>
            <p:cNvPr name="Group 7" id="7"/>
            <p:cNvGrpSpPr/>
            <p:nvPr/>
          </p:nvGrpSpPr>
          <p:grpSpPr>
            <a:xfrm rot="0">
              <a:off x="0" y="887728"/>
              <a:ext cx="14867076" cy="4278461"/>
              <a:chOff x="0" y="0"/>
              <a:chExt cx="2936706" cy="845128"/>
            </a:xfrm>
          </p:grpSpPr>
          <p:sp>
            <p:nvSpPr>
              <p:cNvPr name="Freeform 8" id="8"/>
              <p:cNvSpPr/>
              <p:nvPr/>
            </p:nvSpPr>
            <p:spPr>
              <a:xfrm flipH="false" flipV="false" rot="0">
                <a:off x="0" y="0"/>
                <a:ext cx="2936706" cy="845128"/>
              </a:xfrm>
              <a:custGeom>
                <a:avLst/>
                <a:gdLst/>
                <a:ahLst/>
                <a:cxnLst/>
                <a:rect r="r" b="b" t="t" l="l"/>
                <a:pathLst>
                  <a:path h="845128" w="2936706">
                    <a:moveTo>
                      <a:pt x="0" y="0"/>
                    </a:moveTo>
                    <a:lnTo>
                      <a:pt x="2936706" y="0"/>
                    </a:lnTo>
                    <a:lnTo>
                      <a:pt x="2936706" y="845128"/>
                    </a:lnTo>
                    <a:lnTo>
                      <a:pt x="0" y="845128"/>
                    </a:lnTo>
                    <a:close/>
                  </a:path>
                </a:pathLst>
              </a:custGeom>
              <a:solidFill>
                <a:srgbClr val="E0D2EF"/>
              </a:solidFill>
            </p:spPr>
          </p:sp>
          <p:sp>
            <p:nvSpPr>
              <p:cNvPr name="TextBox 9" id="9"/>
              <p:cNvSpPr txBox="true"/>
              <p:nvPr/>
            </p:nvSpPr>
            <p:spPr>
              <a:xfrm>
                <a:off x="0" y="-38100"/>
                <a:ext cx="2936706" cy="883228"/>
              </a:xfrm>
              <a:prstGeom prst="rect">
                <a:avLst/>
              </a:prstGeom>
            </p:spPr>
            <p:txBody>
              <a:bodyPr anchor="ctr" rtlCol="false" tIns="50800" lIns="50800" bIns="50800" rIns="50800"/>
              <a:lstStyle/>
              <a:p>
                <a:pPr algn="ctr">
                  <a:lnSpc>
                    <a:spcPts val="2100"/>
                  </a:lnSpc>
                </a:pPr>
              </a:p>
            </p:txBody>
          </p:sp>
        </p:grpSp>
        <p:sp>
          <p:nvSpPr>
            <p:cNvPr name="Freeform 10" id="10"/>
            <p:cNvSpPr/>
            <p:nvPr/>
          </p:nvSpPr>
          <p:spPr>
            <a:xfrm flipH="false" flipV="false" rot="0">
              <a:off x="376958" y="0"/>
              <a:ext cx="14490118" cy="6217578"/>
            </a:xfrm>
            <a:custGeom>
              <a:avLst/>
              <a:gdLst/>
              <a:ahLst/>
              <a:cxnLst/>
              <a:rect r="r" b="b" t="t" l="l"/>
              <a:pathLst>
                <a:path h="6217578" w="14490118">
                  <a:moveTo>
                    <a:pt x="0" y="0"/>
                  </a:moveTo>
                  <a:lnTo>
                    <a:pt x="14490118" y="0"/>
                  </a:lnTo>
                  <a:lnTo>
                    <a:pt x="14490118" y="6217578"/>
                  </a:lnTo>
                  <a:lnTo>
                    <a:pt x="0" y="62175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1" id="11"/>
          <p:cNvSpPr txBox="true"/>
          <p:nvPr/>
        </p:nvSpPr>
        <p:spPr>
          <a:xfrm rot="0">
            <a:off x="5391902" y="4798547"/>
            <a:ext cx="7504196" cy="1219200"/>
          </a:xfrm>
          <a:prstGeom prst="rect">
            <a:avLst/>
          </a:prstGeom>
        </p:spPr>
        <p:txBody>
          <a:bodyPr anchor="t" rtlCol="false" tIns="0" lIns="0" bIns="0" rIns="0">
            <a:spAutoFit/>
          </a:bodyPr>
          <a:lstStyle/>
          <a:p>
            <a:pPr algn="ctr" marL="0" indent="0" lvl="0">
              <a:lnSpc>
                <a:spcPts val="8189"/>
              </a:lnSpc>
              <a:spcBef>
                <a:spcPct val="0"/>
              </a:spcBef>
            </a:pPr>
            <a:r>
              <a:rPr lang="en-US" sz="6824">
                <a:solidFill>
                  <a:srgbClr val="0D0D0D"/>
                </a:solidFill>
                <a:latin typeface="TAN Tangkiwood"/>
                <a:ea typeface="TAN Tangkiwood"/>
                <a:cs typeface="TAN Tangkiwood"/>
                <a:sym typeface="TAN Tangkiwoo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DAGlal0oj8Y</dc:identifier>
  <dcterms:modified xsi:type="dcterms:W3CDTF">2011-08-01T06:04:30Z</dcterms:modified>
  <cp:revision>1</cp:revision>
  <dc:title>ppt web e-commerce perfume</dc:title>
</cp:coreProperties>
</file>